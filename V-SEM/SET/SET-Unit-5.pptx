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80" r:id="rId5"/>
    <p:sldId id="281" r:id="rId6"/>
    <p:sldId id="282" r:id="rId7"/>
    <p:sldId id="283" r:id="rId8"/>
    <p:sldId id="284" r:id="rId9"/>
    <p:sldId id="288" r:id="rId10"/>
    <p:sldId id="289" r:id="rId11"/>
    <p:sldId id="275" r:id="rId12"/>
    <p:sldId id="277" r:id="rId13"/>
    <p:sldId id="278" r:id="rId14"/>
    <p:sldId id="294" r:id="rId15"/>
    <p:sldId id="290" r:id="rId16"/>
    <p:sldId id="262" r:id="rId17"/>
    <p:sldId id="263" r:id="rId18"/>
    <p:sldId id="292" r:id="rId19"/>
    <p:sldId id="293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17F6-0A9F-C634-4F97-E69489E7F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DD753-5477-8C05-EC76-EC7B5C205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4A3BA-DE8C-2B49-2A2F-4D2C7C64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08CEB-540D-84DE-06A2-E42BDE06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D7CA0-35B0-3AB5-0E18-A6B1A0E1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3D01-FA43-5393-0601-1A7AC3835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4FF4-80D9-E9AD-B493-22277A058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02627-03FC-DE70-E57C-C4ACCBA6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ECFB4-D4F1-D333-DDE9-38DE2AE1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E8AD3-2288-7E75-2B15-6BA469FD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87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65F2-E25F-8FE3-A1E2-2964DFFC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2638A-F22C-CBF2-F285-27F1AB03D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0E115-E9D0-408C-DC89-9F9BC49F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55C1-285E-72BF-67AE-E340D029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643DD-1317-77BC-0969-6FF6870E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99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7EB6-3D0C-F46C-8E3D-A2BE0CBB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AB8CF-023E-A5BE-0713-BC0F40289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2AFA-1E0F-2B7E-35DA-1E2CABF7D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F2BE4-79D0-C381-E231-FFD92409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5836A-3DD0-3F53-0B99-95FD7D9C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EDAA8-CE13-6A60-2FEA-CB01D4B1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32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D98F-CE61-D718-5D35-DF47E0FD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889BC-5462-CD8A-D20D-20B613515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A6B5F-8364-BA30-F65B-D7F0E6AFF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A1E94-676F-7F9A-D3A2-0F25C4EFA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C3CC0-A2D0-CE92-3D2B-45AD97B31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3F3D0-BEA3-4D62-CEB1-0A5665D7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CA6B7-BA43-3641-BC17-4357B36F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815CE-674D-1537-E184-8BBDB831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54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02524-728A-90D1-66EF-47CBC85A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9C9B6-A9B6-39F3-4326-6A3AD98B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2EF5E-92CF-2423-301E-B9524857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728EB-4651-D44F-0F35-E866F2FF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15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087C4-CE00-8AF3-301F-124B0AD3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AEE95-8959-12AD-69BF-021EC9A6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953E0-2DE0-29DB-DE7D-D44F7695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46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5650-1AD1-1A0D-5A70-4E3CDEBE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A81C-0CE8-193A-DEBD-68605892F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875B4-076E-2350-7E81-075C7B689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7110-588E-AA3D-A6A5-B8B1748C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8A5E7-0316-C27D-8238-7AB23598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7255E-5CE2-4FC6-E3AE-7D5BC563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32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7009-4F0A-D8CC-59FE-5F077083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E01A8-F3DB-AB10-7396-FE8648011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EBDC1-72FE-7EB5-BD18-E1E9AFF94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ECEA5-80FA-C02A-2ACC-534F7E97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B9B52-8279-E764-3F56-A6885432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BF540-1D90-0A11-F161-EE506BA6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7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E80D-1DA3-2FDF-8B6C-7021FB3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E344A-283F-F5C9-256C-519C4CFBB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516C4-CD80-742E-2AB5-0EBB5DAE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29AD-A721-ECC4-151B-22BC4879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FABDB-34CD-A5C9-618A-CCEF71C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58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9F025-7A19-7A80-17C9-3F1F7EB26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35608-D705-8F00-D077-08F6754A4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41DFF-B858-42F0-824A-206CA4A9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D2A0-A1E0-09EE-1638-B299DAB0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D6047-30EB-E725-FB28-54BAA373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01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97FB9-78BE-11C7-5A4C-C5B62A4C8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3A556-BDE5-69FA-D5A9-0E2FEA81A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60305-B313-C86E-80C7-B93A3A125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17000-BA46-4673-8BB8-89433E649E6F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C9685-6277-AC5B-9FB5-4FC0F16F3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96D2-A207-9896-EE2A-1263FC443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C628E-1468-4FD0-AA11-3E0ACD0FC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219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5B0426-DBC5-F393-C83D-18832440BE24}"/>
              </a:ext>
            </a:extLst>
          </p:cNvPr>
          <p:cNvSpPr txBox="1"/>
          <p:nvPr/>
        </p:nvSpPr>
        <p:spPr>
          <a:xfrm>
            <a:off x="0" y="0"/>
            <a:ext cx="1219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Unit-V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GEOTHERMAL ENERGY: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Origin, Applications, Types of Geothermal Resources, Geothermal power generation,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Merits and Demerits.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 ENERGY: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 Thermal Energy; Open Cycle &amp; Closed Cycle OTEC Plants, Environmental Impacts,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applications.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CELLS: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Introduction, Applications, Classification, Different Types of Fuel Cells Such as Phosphoric Acid Fuel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Cell, Alkaline Fuel Cell, PEM Fuel Cell, MC Fuel Cell.</a:t>
            </a:r>
            <a:endParaRPr lang="en-IN" sz="2400" b="1" i="0" u="none" strike="noStrike" baseline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20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77C0CE-4736-A7D1-AC24-42220F59E93D}"/>
              </a:ext>
            </a:extLst>
          </p:cNvPr>
          <p:cNvSpPr txBox="1"/>
          <p:nvPr/>
        </p:nvSpPr>
        <p:spPr>
          <a:xfrm>
            <a:off x="0" y="0"/>
            <a:ext cx="12192000" cy="4151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i="0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UNIT V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Part-A (I)</a:t>
            </a:r>
          </a:p>
          <a:p>
            <a:pPr algn="ctr"/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Geothermal energy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geothermal resources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Geothermal power generation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Merits and Demerits</a:t>
            </a:r>
            <a:endParaRPr lang="en-IN" sz="24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IN" sz="18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25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73CAEF-6CC1-04F3-E7DF-202A5A476281}"/>
              </a:ext>
            </a:extLst>
          </p:cNvPr>
          <p:cNvSpPr txBox="1"/>
          <p:nvPr/>
        </p:nvSpPr>
        <p:spPr>
          <a:xfrm>
            <a:off x="0" y="0"/>
            <a:ext cx="12192000" cy="6712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Geothermal energy: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Geothermal energy is the thermal energy present in the interior of the earth. 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Volcanoes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etc.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visible signs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large amounts of heat lying in the earth interior.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Although the amount of thermal energy with in the earth is very large,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 useful geothermal energy can be extracted at only certain suitable sites.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"/>
            </a:pP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of geothermal energy:</a:t>
            </a:r>
            <a:endParaRPr lang="en-IN" sz="20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 reliable source of energy.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 availability is independent of weather.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least polluting.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cheaper than other energy sources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"/>
            </a:pP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Disadvantages of geothermal energy:</a:t>
            </a:r>
            <a:endParaRPr lang="en-IN" sz="20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Geothermal energy is available as low-grade heat, that is temperature of geothermal fluid is low.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Removal of heated water from the hydrothermal reservoir may lead to land subsidence or seismic imbalance. 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Drilling and blasting of wells may cause instability of land structure and may develop risk of any earthquake or seismic imbalance.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Geothermal energy cannot be transported over long distances (less than 30 km).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93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F85590-A689-0DDA-26E5-60438A5FED0A}"/>
              </a:ext>
            </a:extLst>
          </p:cNvPr>
          <p:cNvSpPr txBox="1"/>
          <p:nvPr/>
        </p:nvSpPr>
        <p:spPr>
          <a:xfrm>
            <a:off x="0" y="0"/>
            <a:ext cx="12189618" cy="665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</a:rPr>
              <a:t>Geothermal Sources: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sz="2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sites where geothermal energy is available </a:t>
            </a: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near the surface and is relatively more concentrated, its extraction and use may be considered feasible.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Those sites are known as geothermal sources or geothermal regions or geothermal fields.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sz="2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Geothermal energy can be 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extracted from earth’s interior in the form of heat. </a:t>
            </a:r>
            <a:endParaRPr lang="en-IN" sz="23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Geothermal sources are therefore of 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 basic kinds: </a:t>
            </a:r>
            <a:endParaRPr lang="en-IN" sz="23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romanLcPeriod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Magma resources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romanLcPeriod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Geopressured resources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romanLcPeriod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Petrothermal</a:t>
            </a: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resources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romanLcPeriod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Hydrothermal resources</a:t>
            </a:r>
            <a:endParaRPr lang="en-IN" sz="2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Magma resources: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consist of partially or completely molten rock with temperature in excess of 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650</a:t>
            </a:r>
            <a:r>
              <a:rPr lang="en-IN" sz="2300" b="1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C,</a:t>
            </a:r>
            <a:r>
              <a:rPr lang="en-IN" sz="2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which may be available at moderate depths.</a:t>
            </a:r>
            <a:endParaRPr lang="en-IN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2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Geopressured resource:</a:t>
            </a:r>
          </a:p>
          <a:p>
            <a:pPr marL="342900" marR="281940" lvl="0" indent="-342900" algn="just">
              <a:spcBef>
                <a:spcPts val="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3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Geopressured resource is hot water or brine trapped underground at the depth of about</a:t>
            </a:r>
            <a:r>
              <a:rPr lang="en-US" sz="23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</a:p>
          <a:p>
            <a:pPr marR="281940" lvl="0" algn="just">
              <a:spcBef>
                <a:spcPts val="5"/>
              </a:spcBef>
              <a:spcAft>
                <a:spcPts val="0"/>
              </a:spcAft>
            </a:pPr>
            <a:r>
              <a:rPr lang="en-US" sz="2300" spc="5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    </a:t>
            </a:r>
            <a:r>
              <a:rPr lang="en-US" sz="23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2400–9l00 m with temperature at about </a:t>
            </a:r>
            <a:r>
              <a:rPr lang="en-US" sz="2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l60°C. </a:t>
            </a:r>
            <a:endParaRPr lang="en-IN" sz="23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81940" lvl="0" indent="-342900" algn="just">
              <a:spcBef>
                <a:spcPts val="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3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 pressure of the water is about l000 bar.</a:t>
            </a:r>
            <a:r>
              <a:rPr lang="en-US" sz="23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3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/>
            <a:endParaRPr lang="en-US" sz="2800" b="1" i="0" u="none" strike="noStrike" baseline="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FF51A-11C9-5573-219B-915299F375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53" t="1863" r="12721"/>
          <a:stretch/>
        </p:blipFill>
        <p:spPr>
          <a:xfrm>
            <a:off x="7058025" y="1828800"/>
            <a:ext cx="51339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5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AF12DE-C7AC-DB41-26D2-9B0749192C0D}"/>
              </a:ext>
            </a:extLst>
          </p:cNvPr>
          <p:cNvSpPr txBox="1"/>
          <p:nvPr/>
        </p:nvSpPr>
        <p:spPr>
          <a:xfrm>
            <a:off x="0" y="0"/>
            <a:ext cx="12192000" cy="4535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281940" indent="-457200" algn="just"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Petrothermal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(or) Hot dry rocks (Hot rocks):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80035" lvl="0" indent="-342900" algn="just">
              <a:spcBef>
                <a:spcPts val="4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Hot</a:t>
            </a:r>
            <a:r>
              <a:rPr lang="en-US" spc="1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dry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rocks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or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petrothermal</a:t>
            </a:r>
            <a:r>
              <a:rPr lang="en-US" spc="1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resources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consist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of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high-temperature</a:t>
            </a:r>
            <a:r>
              <a:rPr lang="en-US" spc="1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rocks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ranging</a:t>
            </a:r>
            <a:r>
              <a:rPr lang="en-US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from</a:t>
            </a:r>
            <a:r>
              <a:rPr lang="en-US" spc="-2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90 to 650°C. </a:t>
            </a:r>
            <a:endParaRPr lang="en-IN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457200" marR="281940" lvl="0" indent="-457200" algn="just">
              <a:spcBef>
                <a:spcPts val="5"/>
              </a:spcBef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Hydrothermal resources: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Hydrothermal resources contain superheated water, steam or both in fractured or porous rock, but further trapped by a layer of impermeable rock.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Hydrothermal resource may give dry and pure steam with </a:t>
            </a:r>
            <a:r>
              <a:rPr lang="en-I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temperature above 240°C. </a:t>
            </a:r>
            <a:endParaRPr lang="en-IN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Hydrothermal resources are classified into two types: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14600" lvl="5" indent="-228600" algn="just">
              <a:buFont typeface="+mj-lt"/>
              <a:buAutoNum type="romanLcPeriod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Vapour-dominated system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14600" lvl="5" indent="-228600" algn="just">
              <a:spcAft>
                <a:spcPts val="800"/>
              </a:spcAft>
              <a:buFont typeface="+mj-lt"/>
              <a:buAutoNum type="romanLcPeriod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Liquid-dominated system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"/>
            </a:pPr>
            <a:r>
              <a:rPr lang="en-IN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Vapour-dominated system or dry steam hydrothermal plant: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these systems, the water is </a:t>
            </a:r>
            <a:r>
              <a:rPr lang="en-I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vaporized into steam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reaches the surface in a relatively dry condition at about </a:t>
            </a:r>
            <a:r>
              <a:rPr lang="en-I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205°C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rarely above 8 bar.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steam is the most suitable for use in </a:t>
            </a:r>
            <a:r>
              <a:rPr lang="en-I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turbo electric power plants with the least cost. </a:t>
            </a:r>
            <a:endParaRPr lang="en-IN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endParaRPr lang="en-IN" sz="20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5" algn="just">
              <a:spcAft>
                <a:spcPts val="800"/>
              </a:spcAft>
            </a:pP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BB16D-BD59-F3D4-4377-411705FE1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" b="11267"/>
          <a:stretch/>
        </p:blipFill>
        <p:spPr bwMode="auto">
          <a:xfrm>
            <a:off x="1" y="3714750"/>
            <a:ext cx="8172449" cy="31432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EE71FD-87CD-E70A-3E7D-5BBB0F8E7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89" y="3714750"/>
            <a:ext cx="4291012" cy="31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3E432-0432-48EA-48D4-291DC7451494}"/>
              </a:ext>
            </a:extLst>
          </p:cNvPr>
          <p:cNvSpPr txBox="1"/>
          <p:nvPr/>
        </p:nvSpPr>
        <p:spPr>
          <a:xfrm>
            <a:off x="2382" y="0"/>
            <a:ext cx="12189618" cy="720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Liquid-dominated system:</a:t>
            </a:r>
            <a:endParaRPr lang="en-IN" sz="24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water temperature in the reservoirs is about 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100°C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but water does not boil as it is under pressure. </a:t>
            </a:r>
            <a:endParaRPr lang="en-IN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the water comes to the surface, there will be pressure drop and rapid boiling of water takes place which 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flashes into a mixture of hot water and steam. 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hot water can be utilized to generate electric power.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Further this liquid-dominated system is again classified into two types.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buFont typeface="+mj-lt"/>
              <a:buAutoNum type="roman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Liquid dominated high-temperature plant or system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buFont typeface="+mj-lt"/>
              <a:buAutoNum type="roman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Liquid dominated low-temperature plant or system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Liquid dominated high-temperature plant or system:</a:t>
            </a:r>
            <a:endParaRPr lang="en-IN" sz="24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type of plant or system is used where hydrothermal reservoir has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temperature and pressure of 230°C and 40 atm respectively. 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Flashed steam system again classified into two types: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flash steam system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 flash steam system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5" algn="just">
              <a:spcAft>
                <a:spcPts val="800"/>
              </a:spcAft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07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E37B5-9EDB-59F8-3563-B2FE79E2EE77}"/>
              </a:ext>
            </a:extLst>
          </p:cNvPr>
          <p:cNvSpPr txBox="1"/>
          <p:nvPr/>
        </p:nvSpPr>
        <p:spPr>
          <a:xfrm>
            <a:off x="2382" y="0"/>
            <a:ext cx="12189618" cy="120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US" sz="2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flash steam system:</a:t>
            </a:r>
            <a:endParaRPr lang="en-IN" sz="24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show a schematic diagram for the </a:t>
            </a: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flashed system.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B8C98-31C0-984D-AAF2-AB742AAD43BE}"/>
              </a:ext>
            </a:extLst>
          </p:cNvPr>
          <p:cNvSpPr txBox="1"/>
          <p:nvPr/>
        </p:nvSpPr>
        <p:spPr>
          <a:xfrm>
            <a:off x="87511" y="3429000"/>
            <a:ext cx="12016978" cy="1336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 flash steam system: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show a schematic diagram for the </a:t>
            </a: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 flashed system.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F418B-E677-A933-B9CC-2CB2BB9C6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963" y="-1"/>
            <a:ext cx="4488655" cy="431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AB3D18-BAA9-5C4E-00EB-AEFC2EE33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0" t="3579" r="2977"/>
          <a:stretch/>
        </p:blipFill>
        <p:spPr>
          <a:xfrm>
            <a:off x="0" y="828675"/>
            <a:ext cx="7698581" cy="2600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9CF884-4DAF-6BB0-5705-2CE46AB75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14824"/>
            <a:ext cx="12189617" cy="24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32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E22E2B-7FCD-9030-7649-D33A7E5A1DC8}"/>
              </a:ext>
            </a:extLst>
          </p:cNvPr>
          <p:cNvSpPr txBox="1"/>
          <p:nvPr/>
        </p:nvSpPr>
        <p:spPr>
          <a:xfrm>
            <a:off x="0" y="0"/>
            <a:ext cx="12192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Liquid dominated low-temperature plant or system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b</a:t>
            </a: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inary cycle system:</a:t>
            </a:r>
            <a:endParaRPr lang="en-IN" sz="24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32777-8F69-9E1E-F71D-D291172034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2" r="12622"/>
          <a:stretch/>
        </p:blipFill>
        <p:spPr>
          <a:xfrm>
            <a:off x="0" y="468076"/>
            <a:ext cx="7314519" cy="6189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873A0C-D48F-DDA4-471C-2C32A72C7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519" y="468076"/>
            <a:ext cx="4877481" cy="638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6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058F4F-9BCB-1313-F970-AF50DE2DB3EE}"/>
              </a:ext>
            </a:extLst>
          </p:cNvPr>
          <p:cNvSpPr txBox="1"/>
          <p:nvPr/>
        </p:nvSpPr>
        <p:spPr>
          <a:xfrm>
            <a:off x="232172" y="0"/>
            <a:ext cx="11959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of geothermal energy:</a:t>
            </a:r>
            <a:endParaRPr lang="en-IN" sz="24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65109-F676-4119-8C9C-B6572B6A8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666"/>
            <a:ext cx="11959826" cy="62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60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0ED574-D242-EFF7-05EF-EFBC6BB6FA64}"/>
              </a:ext>
            </a:extLst>
          </p:cNvPr>
          <p:cNvSpPr txBox="1"/>
          <p:nvPr/>
        </p:nvSpPr>
        <p:spPr>
          <a:xfrm>
            <a:off x="0" y="0"/>
            <a:ext cx="12192000" cy="519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UNIT V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Part-A (I)</a:t>
            </a:r>
          </a:p>
          <a:p>
            <a:pPr algn="ctr"/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 energy 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 thermal energy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cycle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OTEC plants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cycle OTEC plants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pplications</a:t>
            </a:r>
            <a:endParaRPr lang="en-IN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196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9223D7-F06A-FCB9-2335-2E46C84668E9}"/>
              </a:ext>
            </a:extLst>
          </p:cNvPr>
          <p:cNvSpPr txBox="1"/>
          <p:nvPr/>
        </p:nvSpPr>
        <p:spPr>
          <a:xfrm>
            <a:off x="0" y="0"/>
            <a:ext cx="7072313" cy="6956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Introduction to ocean thermal energy: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energy </a:t>
            </a:r>
            <a:r>
              <a:rPr lang="en-IN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ocean waves is a converted form of </a:t>
            </a:r>
            <a:r>
              <a:rPr lang="en-IN" sz="24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concentrated solar energy.</a:t>
            </a:r>
          </a:p>
          <a:p>
            <a:pPr marL="34290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So,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ocean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thermal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created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by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solar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when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ocean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water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absorbs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solar</a:t>
            </a:r>
            <a:r>
              <a:rPr lang="en-US" sz="24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radiation.</a:t>
            </a:r>
            <a:r>
              <a:rPr lang="en-US" sz="24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energy which comes from the </a:t>
            </a:r>
            <a:r>
              <a:rPr lang="en-IN" sz="24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sun is transferred through complex wind electromagnetic wave interactions. </a:t>
            </a:r>
            <a:endParaRPr lang="en-IN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effect of Earth’s temperature variation due to solar heating combined with a multitude of atmospheric phenomena (variation in temperature and pressure).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used to power generation or wind current, around the globe.</a:t>
            </a:r>
            <a:endParaRPr lang="en-IN" sz="24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This process of conversion is called ocean thermal</a:t>
            </a:r>
            <a:r>
              <a:rPr lang="en-US" sz="24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 conversion (OTEC).</a:t>
            </a:r>
            <a:endParaRPr lang="en-IN" sz="24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EDB86-48A9-990B-CEBB-34E30592A0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4" b="1875"/>
          <a:stretch/>
        </p:blipFill>
        <p:spPr>
          <a:xfrm>
            <a:off x="7329488" y="0"/>
            <a:ext cx="4862512" cy="67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3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BCA05A-BB0C-F804-1F91-629B81CC95FB}"/>
              </a:ext>
            </a:extLst>
          </p:cNvPr>
          <p:cNvSpPr txBox="1"/>
          <p:nvPr/>
        </p:nvSpPr>
        <p:spPr>
          <a:xfrm>
            <a:off x="2382" y="0"/>
            <a:ext cx="7484268" cy="714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OTEC systems (or) Types of OTEC power plants:</a:t>
            </a:r>
          </a:p>
          <a:p>
            <a:pPr lvl="7">
              <a:lnSpc>
                <a:spcPct val="115000"/>
              </a:lnSpc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(Or)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Ocean thermal energy conversion systems:</a:t>
            </a:r>
          </a:p>
          <a:p>
            <a:pPr marL="342900" marR="278765" lvl="0" indent="-342900" algn="just">
              <a:lnSpc>
                <a:spcPct val="101000"/>
              </a:lnSpc>
              <a:spcBef>
                <a:spcPts val="2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OTEC</a:t>
            </a:r>
            <a:r>
              <a:rPr lang="en-US" sz="2000" spc="1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plants</a:t>
            </a:r>
            <a:r>
              <a:rPr lang="en-US" sz="2000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can</a:t>
            </a:r>
            <a:r>
              <a:rPr lang="en-US" sz="2000" spc="1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operate</a:t>
            </a:r>
            <a:r>
              <a:rPr lang="en-US" sz="2000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using</a:t>
            </a:r>
            <a:r>
              <a:rPr lang="en-US" sz="2000" spc="1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open</a:t>
            </a:r>
            <a:r>
              <a:rPr lang="en-US" sz="2000" b="1" spc="1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</a:t>
            </a:r>
            <a:r>
              <a:rPr lang="en-US" sz="2000" b="1" spc="1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or</a:t>
            </a:r>
            <a:r>
              <a:rPr lang="en-US" sz="2000" b="1" spc="1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closed</a:t>
            </a:r>
            <a:r>
              <a:rPr lang="en-US" sz="2000" b="1" spc="1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cycle.</a:t>
            </a:r>
            <a:r>
              <a:rPr lang="en-US" sz="2000" b="1" spc="8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0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78765" lvl="0" indent="-342900" algn="just">
              <a:lnSpc>
                <a:spcPct val="101000"/>
              </a:lnSpc>
              <a:spcBef>
                <a:spcPts val="2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000" b="1" spc="1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open</a:t>
            </a:r>
            <a:r>
              <a:rPr lang="en-US" sz="2000" b="1" spc="1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</a:t>
            </a:r>
            <a:r>
              <a:rPr lang="en-US" sz="2000" b="1" spc="1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000" b="1" spc="1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also</a:t>
            </a:r>
            <a:r>
              <a:rPr lang="en-US" sz="2000" b="1" spc="1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known</a:t>
            </a:r>
            <a:r>
              <a:rPr lang="en-US" sz="2000" b="1" spc="1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as the</a:t>
            </a:r>
            <a:r>
              <a:rPr lang="en-US" sz="2000" b="1" spc="45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Claude</a:t>
            </a:r>
            <a:r>
              <a:rPr lang="en-US" sz="2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</a:t>
            </a:r>
            <a:r>
              <a:rPr lang="en-US" sz="2000" b="1" spc="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while</a:t>
            </a:r>
            <a:r>
              <a:rPr lang="en-US" sz="2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000" b="1" spc="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close</a:t>
            </a:r>
            <a:r>
              <a:rPr lang="en-US" sz="2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</a:t>
            </a:r>
            <a:r>
              <a:rPr lang="en-US" sz="2000" b="1" spc="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also</a:t>
            </a:r>
            <a:r>
              <a:rPr lang="en-US" sz="2000" b="1" spc="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known</a:t>
            </a:r>
            <a:r>
              <a:rPr lang="en-US" sz="2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as</a:t>
            </a:r>
            <a:r>
              <a:rPr lang="en-US" sz="2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Anderson</a:t>
            </a:r>
            <a:r>
              <a:rPr lang="en-US" sz="2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cycle.</a:t>
            </a:r>
          </a:p>
          <a:p>
            <a:pPr marL="342900" lvl="0" indent="-342900" algn="just">
              <a:spcBef>
                <a:spcPts val="920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Open cycle or Claude cycle: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marR="280670" lvl="0" indent="-342900" algn="just">
              <a:lnSpc>
                <a:spcPct val="102000"/>
              </a:lnSpc>
              <a:spcBef>
                <a:spcPts val="46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Warm water from the top surface is evaporated to obtain low pressure steam by using a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flash</a:t>
            </a:r>
            <a:r>
              <a:rPr lang="en-US" sz="21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evaporator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maintained at partial vacuum as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water can evaporate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at the lower temperature</a:t>
            </a:r>
            <a:r>
              <a:rPr lang="en-US" sz="21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when pressure is lower than atmospheric</a:t>
            </a:r>
            <a:r>
              <a:rPr lang="en-US" sz="21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pressure. </a:t>
            </a:r>
            <a:endParaRPr lang="en-IN" sz="21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80670" lvl="0" indent="-342900" algn="just">
              <a:lnSpc>
                <a:spcPct val="102000"/>
              </a:lnSpc>
              <a:spcBef>
                <a:spcPts val="46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 low pressure</a:t>
            </a:r>
            <a:r>
              <a:rPr lang="en-US" sz="2100" spc="2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steam</a:t>
            </a:r>
            <a:r>
              <a:rPr lang="en-US" sz="2100" spc="2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obtained</a:t>
            </a:r>
            <a:r>
              <a:rPr lang="en-US" sz="2100" spc="2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from</a:t>
            </a:r>
            <a:r>
              <a:rPr lang="en-US" sz="21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flash</a:t>
            </a:r>
            <a:r>
              <a:rPr lang="en-US" sz="21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evaporator</a:t>
            </a:r>
            <a:r>
              <a:rPr lang="en-US" sz="21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100" spc="2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expanded</a:t>
            </a:r>
            <a:r>
              <a:rPr lang="en-US" sz="21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1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</a:t>
            </a:r>
            <a:r>
              <a:rPr lang="en-US" sz="2100" b="1" spc="2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turbine</a:t>
            </a:r>
            <a:r>
              <a:rPr lang="en-US" sz="2100" b="1" spc="2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to</a:t>
            </a:r>
            <a:r>
              <a:rPr lang="en-US" sz="2100" b="1" spc="2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extract</a:t>
            </a:r>
            <a:r>
              <a:rPr lang="en-US" sz="2100" b="1" spc="2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mechanical</a:t>
            </a:r>
            <a:r>
              <a:rPr lang="en-US" sz="2100" b="1" spc="2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energy.</a:t>
            </a:r>
            <a:r>
              <a:rPr lang="en-US" sz="2100" b="1" spc="2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1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80670" lvl="0" indent="-342900" algn="just">
              <a:lnSpc>
                <a:spcPct val="102000"/>
              </a:lnSpc>
              <a:spcBef>
                <a:spcPts val="46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1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steam</a:t>
            </a:r>
            <a:r>
              <a:rPr lang="en-US" sz="21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after energy</a:t>
            </a:r>
            <a:r>
              <a:rPr lang="en-US" sz="2100" spc="1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removal</a:t>
            </a:r>
            <a:r>
              <a:rPr lang="en-US" sz="21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1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turbine</a:t>
            </a:r>
            <a:r>
              <a:rPr lang="en-US" sz="2100" spc="1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1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condensed</a:t>
            </a:r>
            <a:r>
              <a:rPr lang="en-US" sz="2100" b="1" spc="1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into</a:t>
            </a:r>
            <a:r>
              <a:rPr lang="en-US" sz="2100" b="1" spc="17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water</a:t>
            </a:r>
            <a:r>
              <a:rPr lang="en-US" sz="2100" b="1" spc="1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100" b="1" spc="1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</a:t>
            </a:r>
            <a:r>
              <a:rPr lang="en-US" sz="2100" b="1" spc="17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condenser</a:t>
            </a:r>
            <a:r>
              <a:rPr lang="en-US" sz="2100" b="1" spc="1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which</a:t>
            </a:r>
            <a:r>
              <a:rPr lang="en-US" sz="21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100" spc="1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cooled</a:t>
            </a:r>
            <a:r>
              <a:rPr lang="en-US" sz="21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by</a:t>
            </a:r>
            <a:r>
              <a:rPr lang="en-US" sz="21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cold</a:t>
            </a:r>
            <a:r>
              <a:rPr lang="en-US" sz="2100" spc="-2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water drawn from the depths in the ocean. </a:t>
            </a:r>
            <a:endParaRPr lang="en-IN" sz="21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80670" lvl="0" indent="-342900" algn="just">
              <a:lnSpc>
                <a:spcPct val="102000"/>
              </a:lnSpc>
              <a:spcBef>
                <a:spcPts val="465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 working of an open cycle OTEC plant is</a:t>
            </a:r>
            <a:r>
              <a:rPr lang="en-US" sz="21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shown</a:t>
            </a:r>
            <a:r>
              <a:rPr lang="en-US" sz="2100" spc="1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100" spc="1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1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figure</a:t>
            </a:r>
            <a:r>
              <a:rPr lang="en-US" sz="21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.</a:t>
            </a:r>
            <a:endParaRPr lang="en-IN" sz="21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R="278765" lvl="0" algn="just">
              <a:lnSpc>
                <a:spcPct val="101000"/>
              </a:lnSpc>
              <a:spcBef>
                <a:spcPts val="290"/>
              </a:spcBef>
              <a:spcAft>
                <a:spcPts val="0"/>
              </a:spcAft>
            </a:pPr>
            <a:endParaRPr lang="en-IN" sz="20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F8075-92BF-B0E7-E5D3-4638934FE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2309" y="0"/>
            <a:ext cx="4927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4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AB6911-6043-75DB-1629-D9366EF36655}"/>
              </a:ext>
            </a:extLst>
          </p:cNvPr>
          <p:cNvSpPr txBox="1"/>
          <p:nvPr/>
        </p:nvSpPr>
        <p:spPr>
          <a:xfrm>
            <a:off x="2381" y="0"/>
            <a:ext cx="12189619" cy="271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Closed cycle or Anderson cycle:</a:t>
            </a:r>
          </a:p>
          <a:p>
            <a:pPr marL="342900" marR="279400" lvl="0" indent="-342900" algn="just">
              <a:lnSpc>
                <a:spcPct val="102000"/>
              </a:lnSpc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 the closed cycle, warm surface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water is used to evaporate </a:t>
            </a:r>
            <a:r>
              <a:rPr lang="en-US" sz="2000" dirty="0"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 low boiling point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refrigerant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(ammonia or freon) and refrigerant </a:t>
            </a:r>
            <a:r>
              <a:rPr lang="en-US" sz="200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vapour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is made to flow through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 turbine to extract</a:t>
            </a:r>
            <a:r>
              <a:rPr lang="en-US" sz="20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energy.</a:t>
            </a:r>
            <a:r>
              <a:rPr lang="en-US" sz="2000" b="1" spc="6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0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79400" lvl="0" indent="-342900" algn="just">
              <a:lnSpc>
                <a:spcPct val="102000"/>
              </a:lnSpc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vapour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coming</a:t>
            </a:r>
            <a:r>
              <a:rPr lang="en-US" sz="2000" b="1" spc="15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out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from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000" b="1" spc="1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turbine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after</a:t>
            </a:r>
            <a:r>
              <a:rPr lang="en-US" sz="2000" b="1" spc="15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performing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work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000" b="1" spc="1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cooled</a:t>
            </a:r>
            <a:r>
              <a:rPr lang="en-US" sz="2000" b="1" spc="15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and</a:t>
            </a:r>
            <a:r>
              <a:rPr lang="en-US" sz="2000" b="1" spc="15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condensed</a:t>
            </a:r>
            <a:r>
              <a:rPr lang="en-US" sz="2000" b="1" spc="-25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000" b="1" spc="2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</a:t>
            </a:r>
            <a:r>
              <a:rPr lang="en-US" sz="2000" b="1" spc="2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denser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cooled</a:t>
            </a:r>
            <a:r>
              <a:rPr lang="en-US" sz="2000" spc="2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by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cold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water</a:t>
            </a:r>
            <a:r>
              <a:rPr lang="en-US" sz="2000" spc="2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pumped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from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000" spc="2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ocean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depths.</a:t>
            </a:r>
            <a:r>
              <a:rPr lang="en-US" sz="2000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0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79400" lvl="0" indent="-342900" algn="just">
              <a:lnSpc>
                <a:spcPct val="102000"/>
              </a:lnSpc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closed</a:t>
            </a:r>
            <a:r>
              <a:rPr lang="en-US" sz="2000" spc="2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</a:t>
            </a:r>
            <a:r>
              <a:rPr lang="en-US" sz="2000" spc="2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 shown</a:t>
            </a:r>
            <a:r>
              <a:rPr lang="en-US" sz="20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figure.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IN" sz="20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marR="279400" lvl="0" indent="-342900" algn="just">
              <a:lnSpc>
                <a:spcPct val="102000"/>
              </a:lnSpc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Such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plant</a:t>
            </a:r>
            <a:r>
              <a:rPr lang="en-US" sz="20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much</a:t>
            </a:r>
            <a:r>
              <a:rPr lang="en-US" sz="20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compact</a:t>
            </a:r>
            <a:r>
              <a:rPr lang="en-US" sz="20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size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and</a:t>
            </a:r>
            <a:r>
              <a:rPr lang="en-US" sz="20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less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costly</a:t>
            </a:r>
            <a:r>
              <a:rPr lang="en-US" sz="2000" spc="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compared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to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open</a:t>
            </a:r>
            <a:r>
              <a:rPr lang="en-US" sz="2000" spc="-2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cycle</a:t>
            </a:r>
            <a:r>
              <a:rPr lang="en-US" sz="2000" spc="1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OTEC</a:t>
            </a:r>
            <a:r>
              <a:rPr lang="en-US" sz="2000" spc="1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plant.</a:t>
            </a:r>
            <a:endParaRPr lang="en-IN" sz="20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9B0D8-EA55-4032-4B27-EBC02162B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1563" y="2729700"/>
            <a:ext cx="6539479" cy="412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8E2E3-B31F-76CB-A704-E787909C24D6}"/>
              </a:ext>
            </a:extLst>
          </p:cNvPr>
          <p:cNvSpPr txBox="1"/>
          <p:nvPr/>
        </p:nvSpPr>
        <p:spPr>
          <a:xfrm>
            <a:off x="6541860" y="2711512"/>
            <a:ext cx="5647759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"/>
            </a:pPr>
            <a:endParaRPr lang="en-US" sz="240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endParaRPr lang="en-IN" sz="12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3902B-9B44-365C-9D23-437E6A4CDB65}"/>
              </a:ext>
            </a:extLst>
          </p:cNvPr>
          <p:cNvSpPr txBox="1"/>
          <p:nvPr/>
        </p:nvSpPr>
        <p:spPr>
          <a:xfrm>
            <a:off x="6944859" y="2729700"/>
            <a:ext cx="5244760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Advantages</a:t>
            </a:r>
            <a:r>
              <a:rPr lang="en-US" sz="2000" b="1" spc="115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of</a:t>
            </a:r>
            <a:r>
              <a:rPr lang="en-US" sz="2000" b="1" spc="115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OTEC plants:</a:t>
            </a:r>
          </a:p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Renewable</a:t>
            </a:r>
          </a:p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Pollution free</a:t>
            </a:r>
          </a:p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Continuous</a:t>
            </a:r>
          </a:p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Desalination</a:t>
            </a:r>
          </a:p>
          <a:p>
            <a:pPr marL="342900" lvl="0" indent="-342900">
              <a:spcBef>
                <a:spcPts val="475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Ecofriendly</a:t>
            </a:r>
          </a:p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Disa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dvantages</a:t>
            </a:r>
            <a:r>
              <a:rPr lang="en-US" sz="2000" b="1" spc="115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of</a:t>
            </a:r>
            <a:r>
              <a:rPr lang="en-US" sz="2000" b="1" spc="115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OTEC plants:</a:t>
            </a:r>
          </a:p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Capital investment is high</a:t>
            </a:r>
          </a:p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Efficiency is low</a:t>
            </a:r>
          </a:p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Harmful efficiency on marine life</a:t>
            </a:r>
          </a:p>
        </p:txBody>
      </p:sp>
    </p:spTree>
    <p:extLst>
      <p:ext uri="{BB962C8B-B14F-4D97-AF65-F5344CB8AC3E}">
        <p14:creationId xmlns:p14="http://schemas.microsoft.com/office/powerpoint/2010/main" val="4165905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9000-B9BD-2E4E-321F-513011634E4B}"/>
              </a:ext>
            </a:extLst>
          </p:cNvPr>
          <p:cNvSpPr txBox="1"/>
          <p:nvPr/>
        </p:nvSpPr>
        <p:spPr>
          <a:xfrm>
            <a:off x="0" y="0"/>
            <a:ext cx="12192000" cy="6065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impacts of ocean thermal energy conversion (OTEC):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air pollution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and sustainable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fossil fuel 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Marine life disturbance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of cold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leakage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pollution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impact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ocean thermal energy conversion (OTEC):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Desalination of Seawater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Conditioning and Cooling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(Fish Farming)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Production</a:t>
            </a:r>
            <a:endParaRPr lang="en-US" sz="2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indent="-342900">
              <a:spcBef>
                <a:spcPts val="475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02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B02907-AD43-7DFF-240C-AB0C83255651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UNIT V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Part-B </a:t>
            </a:r>
          </a:p>
          <a:p>
            <a:pPr algn="ctr"/>
            <a:r>
              <a:rPr lang="en-IN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cells</a:t>
            </a:r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IN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fuel cells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Phosphoric acid fuel </a:t>
            </a:r>
            <a:r>
              <a:rPr lang="it-IT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it-IT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Alkaline fuel cell</a:t>
            </a:r>
            <a:endParaRPr lang="it-IT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it-IT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 fuel cell</a:t>
            </a:r>
            <a:endParaRPr lang="it-IT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it-IT" sz="2400" b="1" i="0" u="none" strike="noStrike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fuel cell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512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E81150-8070-7026-F03E-91FF40C2BA42}"/>
              </a:ext>
            </a:extLst>
          </p:cNvPr>
          <p:cNvSpPr txBox="1"/>
          <p:nvPr/>
        </p:nvSpPr>
        <p:spPr>
          <a:xfrm>
            <a:off x="0" y="0"/>
            <a:ext cx="12192000" cy="8066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cell: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cell is a device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chemical energy into electrical energy.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continuous supply of a fuel and an oxidant to generate D.C. electric power.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fuel cells:</a:t>
            </a:r>
          </a:p>
          <a:p>
            <a:pPr marR="281305" lvl="0" algn="just">
              <a:spcBef>
                <a:spcPts val="11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1. A</a:t>
            </a:r>
            <a:r>
              <a:rPr lang="en-US" sz="2000" b="1" spc="7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primary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</a:t>
            </a:r>
            <a:r>
              <a:rPr lang="en-US" sz="2000" b="1" spc="7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is</a:t>
            </a:r>
            <a:r>
              <a:rPr lang="en-US" sz="2000" spc="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000" spc="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</a:t>
            </a:r>
            <a:r>
              <a:rPr lang="en-US" sz="2000" spc="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</a:t>
            </a:r>
            <a:r>
              <a:rPr lang="en-US" sz="2000" spc="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in</a:t>
            </a:r>
            <a:r>
              <a:rPr lang="en-US" sz="2000" spc="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which</a:t>
            </a:r>
            <a:r>
              <a:rPr lang="en-US" sz="2000" spc="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spc="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reactants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(fuel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oxidant)</a:t>
            </a:r>
            <a:r>
              <a:rPr lang="en-US" sz="2000" b="1" spc="7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are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passed</a:t>
            </a:r>
            <a:r>
              <a:rPr lang="en-US" sz="2000" b="1" spc="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through </a:t>
            </a:r>
            <a:r>
              <a:rPr lang="en-US" sz="2000" b="1" spc="-2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b="1" spc="10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</a:t>
            </a:r>
            <a:r>
              <a:rPr lang="en-US" sz="2000" b="1" spc="1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only</a:t>
            </a:r>
            <a:r>
              <a:rPr lang="en-US" sz="2000" b="1" spc="10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once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spc="1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products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of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reactants</a:t>
            </a:r>
            <a:r>
              <a:rPr lang="en-US" sz="2000" spc="1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are</a:t>
            </a:r>
            <a:r>
              <a:rPr lang="en-US" sz="2000" spc="1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discarded.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Hydrogen–oxygen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</a:t>
            </a:r>
            <a:r>
              <a:rPr lang="en-US" sz="2000" spc="10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</a:t>
            </a:r>
            <a:r>
              <a:rPr lang="en-US" sz="2000" spc="1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is </a:t>
            </a:r>
            <a:r>
              <a:rPr lang="en-US" sz="2000" spc="-2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000" spc="1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primary</a:t>
            </a:r>
            <a:r>
              <a:rPr lang="en-US" sz="2000" spc="1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</a:t>
            </a:r>
            <a:r>
              <a:rPr lang="en-US" sz="2000" spc="1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cell.</a:t>
            </a:r>
          </a:p>
          <a:p>
            <a:pPr marL="342900" marR="281305" lvl="0" indent="-342900" algn="just">
              <a:spcBef>
                <a:spcPts val="11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514350" marR="281305" lvl="0" indent="-514350" algn="just">
              <a:spcBef>
                <a:spcPts val="11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Hydrogen-Oxygen fuel cell</a:t>
            </a:r>
          </a:p>
          <a:p>
            <a:pPr marL="514350" marR="281305" lvl="0" indent="-514350" algn="just">
              <a:spcBef>
                <a:spcPts val="11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Alkaline fuel cell</a:t>
            </a:r>
          </a:p>
          <a:p>
            <a:pPr marL="514350" marR="281305" lvl="0" indent="-514350" algn="just">
              <a:spcBef>
                <a:spcPts val="11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Polymer electrolyte fuel cell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Molten carbonate fuel cell </a:t>
            </a:r>
            <a:endParaRPr lang="en-IN" sz="2000" dirty="0"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Solid oxide fuel cell </a:t>
            </a:r>
            <a:endParaRPr lang="en-IN" sz="2000" dirty="0"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R="281305" lvl="0" algn="just">
              <a:spcBef>
                <a:spcPts val="11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2. A secondary fuel cell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is a cell in which the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reactants (fuel and oxidant) are passed</a:t>
            </a:r>
            <a:r>
              <a:rPr lang="en-US" sz="20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through the cell many times.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The products of the reactants are regenerated by thermal,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electrical</a:t>
            </a:r>
            <a:r>
              <a:rPr lang="en-US" sz="2000" spc="1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or</a:t>
            </a:r>
            <a:r>
              <a:rPr lang="en-US" sz="2000" spc="1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photochemical</a:t>
            </a:r>
            <a:r>
              <a:rPr lang="en-US" sz="2000" spc="1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methods.</a:t>
            </a:r>
            <a:r>
              <a:rPr lang="en-US" sz="2000" spc="1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These</a:t>
            </a:r>
            <a:r>
              <a:rPr lang="en-US" sz="20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</a:t>
            </a:r>
            <a:r>
              <a:rPr lang="en-US" sz="2000" spc="1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cells</a:t>
            </a:r>
            <a:r>
              <a:rPr lang="en-US" sz="20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are</a:t>
            </a:r>
            <a:r>
              <a:rPr lang="en-US" sz="2000" spc="1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also</a:t>
            </a:r>
            <a:r>
              <a:rPr lang="en-US" sz="20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called</a:t>
            </a:r>
            <a:r>
              <a:rPr lang="en-US" sz="2000" spc="1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regenerative</a:t>
            </a:r>
            <a:r>
              <a:rPr lang="en-US" sz="2000" spc="1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or</a:t>
            </a:r>
            <a:r>
              <a:rPr lang="en-US" sz="2000" spc="1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reversible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</a:t>
            </a:r>
            <a:r>
              <a:rPr lang="en-US" sz="2000" spc="1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cells.</a:t>
            </a:r>
          </a:p>
          <a:p>
            <a:pPr marL="342900" marR="281305" indent="-342900" algn="just">
              <a:spcBef>
                <a:spcPts val="110"/>
              </a:spcBef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Regenerative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 cell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Reversible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fuel cell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Fossil fuel cell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Hydro carbon fuel cell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Petro-chemical fuel cell</a:t>
            </a: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endParaRPr lang="en-US" sz="2000" dirty="0">
              <a:solidFill>
                <a:srgbClr val="231F20"/>
              </a:solidFill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514350" marR="281305" indent="-514350" algn="just">
              <a:spcBef>
                <a:spcPts val="110"/>
              </a:spcBef>
              <a:buFont typeface="+mj-lt"/>
              <a:buAutoNum type="romanLcPeriod"/>
            </a:pPr>
            <a:endParaRPr lang="en-US" sz="2000" dirty="0"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R="281305" lvl="0" algn="just">
              <a:spcBef>
                <a:spcPts val="110"/>
              </a:spcBef>
              <a:spcAft>
                <a:spcPts val="0"/>
              </a:spcAft>
            </a:pPr>
            <a:endParaRPr lang="en-IN" sz="2000" dirty="0">
              <a:effectLst/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663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1F39DA-0A05-376E-6750-23D8A297AC9D}"/>
              </a:ext>
            </a:extLst>
          </p:cNvPr>
          <p:cNvSpPr txBox="1"/>
          <p:nvPr/>
        </p:nvSpPr>
        <p:spPr>
          <a:xfrm>
            <a:off x="0" y="-41047"/>
            <a:ext cx="7200899" cy="56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hydrogen-oxygen or phosphoric acid and fuel cell: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principle:</a:t>
            </a:r>
          </a:p>
          <a:p>
            <a:pPr marL="342900" lvl="0" indent="-342900" algn="just"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</a:t>
            </a:r>
            <a:r>
              <a:rPr lang="en-US" sz="2200" b="1" spc="1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fuel</a:t>
            </a:r>
            <a:r>
              <a:rPr lang="en-US" sz="2200" b="1" spc="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cell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converts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chemical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of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</a:t>
            </a:r>
            <a:r>
              <a:rPr lang="en-US" sz="2200" b="1" spc="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fuel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directly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into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electrical</a:t>
            </a:r>
            <a:r>
              <a:rPr lang="en-US" sz="2200" b="1" spc="1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energy.</a:t>
            </a:r>
            <a:endParaRPr lang="en-IN" sz="2200" b="1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lvl="0" indent="-342900" algn="just"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Fuel</a:t>
            </a:r>
            <a:r>
              <a:rPr lang="en-US" sz="2200" spc="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gas</a:t>
            </a:r>
            <a:r>
              <a:rPr lang="en-US" sz="2200" spc="19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diffuses</a:t>
            </a:r>
            <a:r>
              <a:rPr lang="en-US" sz="2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through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anode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and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it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gets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oxidized.</a:t>
            </a:r>
            <a:endParaRPr lang="en-IN" sz="22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lvl="0" indent="-342900" algn="just"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On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oxidation,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fuel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gas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releases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electrons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to</a:t>
            </a:r>
            <a:r>
              <a:rPr lang="en-US" sz="2200" spc="1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 external circuit.</a:t>
            </a:r>
            <a:endParaRPr lang="en-IN" sz="22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lvl="0" indent="-342900" algn="just"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 fuel cell consists of two electrochemically conducting electrodes separated by an</a:t>
            </a:r>
            <a:r>
              <a:rPr lang="en-US" sz="2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electrolyte.</a:t>
            </a:r>
            <a:endParaRPr lang="en-IN" sz="22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lvl="0" indent="-342900" algn="just"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200" spc="1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arrangement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of</a:t>
            </a:r>
            <a:r>
              <a:rPr lang="en-US" sz="2200" spc="1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fuel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cell</a:t>
            </a:r>
            <a:r>
              <a:rPr lang="en-US" sz="2200" spc="1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components</a:t>
            </a:r>
            <a:r>
              <a:rPr lang="en-US" sz="2200" spc="1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is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shown</a:t>
            </a:r>
            <a:r>
              <a:rPr lang="en-US" sz="2200" spc="1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in</a:t>
            </a:r>
            <a:r>
              <a:rPr lang="en-US" sz="2200" spc="1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figure.</a:t>
            </a:r>
          </a:p>
          <a:p>
            <a:pPr marL="342900" indent="-342900" algn="just">
              <a:spcBef>
                <a:spcPts val="460"/>
              </a:spcBef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The</a:t>
            </a:r>
            <a:r>
              <a:rPr lang="en-US" sz="2400" spc="2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electrochemical</a:t>
            </a:r>
            <a:r>
              <a:rPr lang="en-US" sz="2400" spc="2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reactions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spc="-2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are</a:t>
            </a:r>
            <a:r>
              <a:rPr lang="en-US" sz="2400" spc="1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as</a:t>
            </a:r>
            <a:r>
              <a:rPr lang="en-US" sz="2400" spc="1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rebuchet MS" panose="020B0603020202020204" pitchFamily="34" charset="0"/>
              </a:rPr>
              <a:t>follow:</a:t>
            </a:r>
            <a:endParaRPr lang="en-IN" sz="24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lvl="0" indent="-342900" algn="just">
              <a:spcBef>
                <a:spcPts val="46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IN" sz="22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lvl="0" algn="just">
              <a:spcBef>
                <a:spcPts val="460"/>
              </a:spcBef>
              <a:spcAft>
                <a:spcPts val="0"/>
              </a:spcAft>
            </a:pPr>
            <a:endParaRPr lang="en-IN" sz="2000" dirty="0">
              <a:effectLst/>
              <a:latin typeface="Trebuchet MS" panose="020B0603020202020204" pitchFamily="34" charset="0"/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D1386-97DD-F2F8-CDA4-CE576BE59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0"/>
            <a:ext cx="4819650" cy="6657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33F13-0571-39AE-5BC7-D4191486D3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33"/>
          <a:stretch/>
        </p:blipFill>
        <p:spPr>
          <a:xfrm>
            <a:off x="0" y="4486275"/>
            <a:ext cx="4991101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99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47720E-6F22-5F32-3BCD-50F946C73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3157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A1A9F1-4019-CF06-925A-8B1FD523F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286124"/>
            <a:ext cx="12191999" cy="3571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20829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433AF-CC19-20E4-DA0F-10929A200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" y="0"/>
            <a:ext cx="10849293" cy="38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C394EE-DC39-FD7E-2DFE-BB620D47CDC6}"/>
              </a:ext>
            </a:extLst>
          </p:cNvPr>
          <p:cNvSpPr txBox="1"/>
          <p:nvPr/>
        </p:nvSpPr>
        <p:spPr>
          <a:xfrm>
            <a:off x="0" y="3718679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fuel cells: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cells can power vehicles, such as buses, trains, planes, and personal cars.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power: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cells can provide emergency backup power for facilities that are critical to the grid, such as data centers, hospitals, and prisons.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Spacecraft: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cells power the electrical systems on spacecraft.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devices: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fuel cells can power devices like cell phones and laptops. </a:t>
            </a:r>
          </a:p>
          <a:p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90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6C111-058D-B622-09D4-AE31189778AA}"/>
              </a:ext>
            </a:extLst>
          </p:cNvPr>
          <p:cNvSpPr txBox="1"/>
          <p:nvPr/>
        </p:nvSpPr>
        <p:spPr>
          <a:xfrm>
            <a:off x="0" y="0"/>
            <a:ext cx="12192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questions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Elaborate the various types of geothermal energy 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vapour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dominated power plant.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the single flash steam system. 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 the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 flash steam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working of open cycle OTEC plant.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Elaborate the working of closed cycle OTEC plant.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 the ocean thermal energy affects on environmental impact.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and describe different kinds of fuel cells.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a H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cell with sketch.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Listout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applications of fuel cell.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answer questions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geothermal energy.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of geothermal energy 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working principle of ocean thermal energy conversion.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any two applications of OTEC.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fuel cell.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questions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Elucidate the hot rocks, hot springs and geysers.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origin of geothermal energy sources.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challenges for operating OTEC plants.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equation for efficiency of fuel cell.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8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1721</Words>
  <Application>Microsoft Office PowerPoint</Application>
  <PresentationFormat>Widescreen</PresentationFormat>
  <Paragraphs>202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Kolahalam Sai Babu</dc:creator>
  <cp:lastModifiedBy>Kolahalam Sai Babu</cp:lastModifiedBy>
  <cp:revision>73</cp:revision>
  <dcterms:created xsi:type="dcterms:W3CDTF">2024-06-09T04:55:22Z</dcterms:created>
  <dcterms:modified xsi:type="dcterms:W3CDTF">2025-07-06T13:20:25Z</dcterms:modified>
</cp:coreProperties>
</file>